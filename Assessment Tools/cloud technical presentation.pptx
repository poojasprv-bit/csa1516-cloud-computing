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58" r:id="rId4"/>
    <p:sldId id="260" r:id="rId5"/>
    <p:sldId id="263" r:id="rId6"/>
    <p:sldId id="264" r:id="rId7"/>
    <p:sldId id="270" r:id="rId8"/>
    <p:sldId id="274" r:id="rId9"/>
    <p:sldId id="268"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IN"/>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85E14BC5-A277-4E28-847C-F08188BB9B27}" type="datetimeFigureOut">
              <a:rPr lang="en-IN" smtClean="0"/>
              <a:t>09-10-2026</a:t>
            </a:fld>
            <a:endParaRPr lang="en-IN"/>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22216064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2602496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IN"/>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85E14BC5-A277-4E28-847C-F08188BB9B27}" type="datetimeFigureOut">
              <a:rPr lang="en-IN" smtClean="0"/>
              <a:t>09-10-2026</a:t>
            </a:fld>
            <a:endParaRPr lang="en-IN"/>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BB2C9EC3-5BD0-4E8E-AB46-F056C6417509}" type="slidenum">
              <a:rPr lang="en-IN" smtClean="0"/>
              <a:t>‹#›</a:t>
            </a:fld>
            <a:endParaRPr lang="en-IN"/>
          </a:p>
        </p:txBody>
      </p:sp>
    </p:spTree>
    <p:extLst>
      <p:ext uri="{BB962C8B-B14F-4D97-AF65-F5344CB8AC3E}">
        <p14:creationId xmlns:p14="http://schemas.microsoft.com/office/powerpoint/2010/main" val="24370775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IN"/>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BB2C9EC3-5BD0-4E8E-AB46-F056C6417509}" type="slidenum">
              <a:rPr lang="en-IN" smtClean="0"/>
              <a:t>‹#›</a:t>
            </a:fld>
            <a:endParaRPr lang="en-IN"/>
          </a:p>
        </p:txBody>
      </p:sp>
    </p:spTree>
    <p:extLst>
      <p:ext uri="{BB962C8B-B14F-4D97-AF65-F5344CB8AC3E}">
        <p14:creationId xmlns:p14="http://schemas.microsoft.com/office/powerpoint/2010/main" val="14000044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76585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2131285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4669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256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3034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IN"/>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BB2C9EC3-5BD0-4E8E-AB46-F056C6417509}" type="slidenum">
              <a:rPr lang="en-IN" smtClean="0"/>
              <a:t>‹#›</a:t>
            </a:fld>
            <a:endParaRPr lang="en-IN"/>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39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85E14BC5-A277-4E28-847C-F08188BB9B27}" type="datetimeFigureOut">
              <a:rPr lang="en-IN" smtClean="0"/>
              <a:t>09-10-2026</a:t>
            </a:fld>
            <a:endParaRPr lang="en-IN"/>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IN"/>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BB2C9EC3-5BD0-4E8E-AB46-F056C6417509}" type="slidenum">
              <a:rPr lang="en-IN" smtClean="0"/>
              <a:t>‹#›</a:t>
            </a:fld>
            <a:endParaRPr lang="en-IN"/>
          </a:p>
        </p:txBody>
      </p:sp>
    </p:spTree>
    <p:extLst>
      <p:ext uri="{BB962C8B-B14F-4D97-AF65-F5344CB8AC3E}">
        <p14:creationId xmlns:p14="http://schemas.microsoft.com/office/powerpoint/2010/main" val="556032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85E14BC5-A277-4E28-847C-F08188BB9B27}" type="datetimeFigureOut">
              <a:rPr lang="en-IN" smtClean="0"/>
              <a:t>09-10-2026</a:t>
            </a:fld>
            <a:endParaRPr lang="en-IN"/>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BB2C9EC3-5BD0-4E8E-AB46-F056C6417509}" type="slidenum">
              <a:rPr lang="en-IN" smtClean="0"/>
              <a:t>‹#›</a:t>
            </a:fld>
            <a:endParaRPr lang="en-IN"/>
          </a:p>
        </p:txBody>
      </p:sp>
    </p:spTree>
    <p:extLst>
      <p:ext uri="{BB962C8B-B14F-4D97-AF65-F5344CB8AC3E}">
        <p14:creationId xmlns:p14="http://schemas.microsoft.com/office/powerpoint/2010/main" val="160245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85E14BC5-A277-4E28-847C-F08188BB9B27}" type="datetimeFigureOut">
              <a:rPr lang="en-IN" smtClean="0"/>
              <a:t>09-10-2026</a:t>
            </a:fld>
            <a:endParaRPr lang="en-IN"/>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IN"/>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BB2C9EC3-5BD0-4E8E-AB46-F056C6417509}" type="slidenum">
              <a:rPr lang="en-IN" smtClean="0"/>
              <a:t>‹#›</a:t>
            </a:fld>
            <a:endParaRPr lang="en-IN"/>
          </a:p>
        </p:txBody>
      </p:sp>
    </p:spTree>
    <p:extLst>
      <p:ext uri="{BB962C8B-B14F-4D97-AF65-F5344CB8AC3E}">
        <p14:creationId xmlns:p14="http://schemas.microsoft.com/office/powerpoint/2010/main" val="457246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85E14BC5-A277-4E28-847C-F08188BB9B27}" type="datetimeFigureOut">
              <a:rPr lang="en-IN" smtClean="0"/>
              <a:t>09-10-2026</a:t>
            </a:fld>
            <a:endParaRPr lang="en-IN"/>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BB2C9EC3-5BD0-4E8E-AB46-F056C6417509}" type="slidenum">
              <a:rPr lang="en-IN" smtClean="0"/>
              <a:t>‹#›</a:t>
            </a:fld>
            <a:endParaRPr lang="en-IN"/>
          </a:p>
        </p:txBody>
      </p:sp>
    </p:spTree>
    <p:extLst>
      <p:ext uri="{BB962C8B-B14F-4D97-AF65-F5344CB8AC3E}">
        <p14:creationId xmlns:p14="http://schemas.microsoft.com/office/powerpoint/2010/main" val="1345143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85E14BC5-A277-4E28-847C-F08188BB9B27}" type="datetimeFigureOut">
              <a:rPr lang="en-IN" smtClean="0"/>
              <a:t>09-10-2026</a:t>
            </a:fld>
            <a:endParaRPr lang="en-IN"/>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BB2C9EC3-5BD0-4E8E-AB46-F056C6417509}" type="slidenum">
              <a:rPr lang="en-IN" smtClean="0"/>
              <a:t>‹#›</a:t>
            </a:fld>
            <a:endParaRPr lang="en-IN"/>
          </a:p>
        </p:txBody>
      </p:sp>
    </p:spTree>
    <p:extLst>
      <p:ext uri="{BB962C8B-B14F-4D97-AF65-F5344CB8AC3E}">
        <p14:creationId xmlns:p14="http://schemas.microsoft.com/office/powerpoint/2010/main" val="2683123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416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641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IN"/>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85E14BC5-A277-4E28-847C-F08188BB9B27}" type="datetimeFigureOut">
              <a:rPr lang="en-IN" smtClean="0"/>
              <a:t>09-10-2026</a:t>
            </a:fld>
            <a:endParaRPr lang="en-IN"/>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BB2C9EC3-5BD0-4E8E-AB46-F056C6417509}"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3278165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4352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95924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26502552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14901229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37250072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5262708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10145253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3749177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2500717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B2C9EC3-5BD0-4E8E-AB46-F056C6417509}" type="slidenum">
              <a:rPr lang="en-IN" smtClean="0"/>
              <a:t>‹#›</a:t>
            </a:fld>
            <a:endParaRPr lang="en-IN"/>
          </a:p>
        </p:txBody>
      </p:sp>
    </p:spTree>
    <p:extLst>
      <p:ext uri="{BB962C8B-B14F-4D97-AF65-F5344CB8AC3E}">
        <p14:creationId xmlns:p14="http://schemas.microsoft.com/office/powerpoint/2010/main" val="2379725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IN"/>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85E14BC5-A277-4E28-847C-F08188BB9B27}" type="datetimeFigureOut">
              <a:rPr lang="en-IN" smtClean="0"/>
              <a:t>09-10-2026</a:t>
            </a:fld>
            <a:endParaRPr lang="en-IN"/>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BB2C9EC3-5BD0-4E8E-AB46-F056C6417509}" type="slidenum">
              <a:rPr lang="en-IN" smtClean="0"/>
              <a:t>‹#›</a:t>
            </a:fld>
            <a:endParaRPr lang="en-IN"/>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8236276"/>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395CF2-FA86-A9FD-10AA-8788225DD530}"/>
              </a:ext>
            </a:extLst>
          </p:cNvPr>
          <p:cNvPicPr>
            <a:picLocks noChangeAspect="1"/>
          </p:cNvPicPr>
          <p:nvPr/>
        </p:nvPicPr>
        <p:blipFill>
          <a:blip r:embed="rId2"/>
          <a:stretch>
            <a:fillRect/>
          </a:stretch>
        </p:blipFill>
        <p:spPr>
          <a:xfrm>
            <a:off x="241738" y="262760"/>
            <a:ext cx="11708524" cy="1161236"/>
          </a:xfrm>
          <a:prstGeom prst="rect">
            <a:avLst/>
          </a:prstGeom>
        </p:spPr>
      </p:pic>
      <p:sp>
        <p:nvSpPr>
          <p:cNvPr id="6" name="TextBox 5">
            <a:extLst>
              <a:ext uri="{FF2B5EF4-FFF2-40B4-BE49-F238E27FC236}">
                <a16:creationId xmlns:a16="http://schemas.microsoft.com/office/drawing/2014/main" id="{B5BCE008-C0D0-CF95-9993-4B559B170FE0}"/>
              </a:ext>
            </a:extLst>
          </p:cNvPr>
          <p:cNvSpPr txBox="1"/>
          <p:nvPr/>
        </p:nvSpPr>
        <p:spPr>
          <a:xfrm>
            <a:off x="1305910" y="2009791"/>
            <a:ext cx="9580180" cy="1938992"/>
          </a:xfrm>
          <a:prstGeom prst="rect">
            <a:avLst/>
          </a:prstGeom>
          <a:noFill/>
        </p:spPr>
        <p:txBody>
          <a:bodyPr wrap="square">
            <a:spAutoFit/>
          </a:bodyPr>
          <a:lstStyle/>
          <a:p>
            <a:pPr algn="ctr"/>
            <a:r>
              <a:rPr lang="en-US" sz="3000" b="1" dirty="0">
                <a:solidFill>
                  <a:srgbClr val="0D0D0D"/>
                </a:solidFill>
                <a:latin typeface="Times New Roman" panose="02020603050405020304" pitchFamily="18" charset="0"/>
                <a:cs typeface="Times New Roman" panose="02020603050405020304" pitchFamily="18" charset="0"/>
              </a:rPr>
              <a:t>Serverless Computing: Reducing Infrastructure Management in the Cloud</a:t>
            </a:r>
          </a:p>
          <a:p>
            <a:pPr algn="ctr"/>
            <a:endParaRPr lang="en-US" sz="3000" b="1" dirty="0">
              <a:solidFill>
                <a:srgbClr val="0D0D0D"/>
              </a:solidFill>
              <a:latin typeface="Times New Roman" panose="02020603050405020304" pitchFamily="18" charset="0"/>
              <a:cs typeface="Times New Roman" panose="02020603050405020304" pitchFamily="18" charset="0"/>
            </a:endParaRPr>
          </a:p>
          <a:p>
            <a:pPr algn="ctr"/>
            <a:r>
              <a:rPr lang="en-US" sz="3000" b="1" dirty="0">
                <a:solidFill>
                  <a:srgbClr val="0D0D0D"/>
                </a:solidFill>
                <a:latin typeface="Times New Roman" panose="02020603050405020304" pitchFamily="18" charset="0"/>
                <a:cs typeface="Times New Roman" panose="02020603050405020304" pitchFamily="18" charset="0"/>
              </a:rPr>
              <a:t>CSA1516 – Cloud Computing</a:t>
            </a:r>
          </a:p>
        </p:txBody>
      </p:sp>
      <p:sp>
        <p:nvSpPr>
          <p:cNvPr id="7" name="TextBox 6">
            <a:extLst>
              <a:ext uri="{FF2B5EF4-FFF2-40B4-BE49-F238E27FC236}">
                <a16:creationId xmlns:a16="http://schemas.microsoft.com/office/drawing/2014/main" id="{C83867EB-9C2B-37F9-8750-1F76B1F82A9E}"/>
              </a:ext>
            </a:extLst>
          </p:cNvPr>
          <p:cNvSpPr txBox="1"/>
          <p:nvPr/>
        </p:nvSpPr>
        <p:spPr>
          <a:xfrm>
            <a:off x="7534842" y="4640795"/>
            <a:ext cx="4272455" cy="960328"/>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PRESENTED BY:</a:t>
            </a:r>
          </a:p>
          <a:p>
            <a:pPr>
              <a:lnSpc>
                <a:spcPct val="150000"/>
              </a:lnSpc>
            </a:pPr>
            <a:r>
              <a:rPr lang="en-US" sz="2000" b="1" dirty="0">
                <a:latin typeface="Times New Roman" panose="02020603050405020304" pitchFamily="18" charset="0"/>
                <a:cs typeface="Times New Roman" panose="02020603050405020304" pitchFamily="18" charset="0"/>
              </a:rPr>
              <a:t>POOJA.S(192524326)</a:t>
            </a:r>
            <a:endParaRPr lang="en-IN"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7424ED6-B481-CC24-1CE0-63A463DD94FE}"/>
              </a:ext>
            </a:extLst>
          </p:cNvPr>
          <p:cNvSpPr txBox="1"/>
          <p:nvPr/>
        </p:nvSpPr>
        <p:spPr>
          <a:xfrm>
            <a:off x="988928" y="4640795"/>
            <a:ext cx="3993931" cy="960328"/>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GUIDED BY:</a:t>
            </a:r>
          </a:p>
          <a:p>
            <a:pPr>
              <a:lnSpc>
                <a:spcPct val="150000"/>
              </a:lnSpc>
            </a:pPr>
            <a:r>
              <a:rPr lang="en-US" sz="2000" b="1" dirty="0">
                <a:latin typeface="Times New Roman" panose="02020603050405020304" pitchFamily="18" charset="0"/>
                <a:cs typeface="Times New Roman" panose="02020603050405020304" pitchFamily="18" charset="0"/>
              </a:rPr>
              <a:t>DR. BOOMIJA M D</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1990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2A7576-A2F1-BAF0-9841-B8D88CE36949}"/>
              </a:ext>
            </a:extLst>
          </p:cNvPr>
          <p:cNvSpPr txBox="1"/>
          <p:nvPr/>
        </p:nvSpPr>
        <p:spPr>
          <a:xfrm>
            <a:off x="3993931" y="455354"/>
            <a:ext cx="7041931"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13E5BE4-2321-C63F-FD94-0DA0C977376E}"/>
              </a:ext>
            </a:extLst>
          </p:cNvPr>
          <p:cNvSpPr txBox="1"/>
          <p:nvPr/>
        </p:nvSpPr>
        <p:spPr>
          <a:xfrm>
            <a:off x="1352549" y="1944694"/>
            <a:ext cx="9486901" cy="4457952"/>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Serverless computing is a cloud computing model where the cloud provider manages servers, infrastructure, and scaling. It allows developers to focus on writing code without worrying about server maintenance. It offers automatic scaling, cost efficiency, and faster application development.</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b="1" dirty="0">
                <a:latin typeface="Times New Roman" panose="02020603050405020304" pitchFamily="18" charset="0"/>
                <a:cs typeface="Times New Roman" panose="02020603050405020304" pitchFamily="18" charset="0"/>
              </a:rPr>
              <a:t>Examples: </a:t>
            </a:r>
            <a:r>
              <a:rPr lang="en-IN" sz="2400" dirty="0">
                <a:latin typeface="Times New Roman" panose="02020603050405020304" pitchFamily="18" charset="0"/>
                <a:cs typeface="Times New Roman" panose="02020603050405020304" pitchFamily="18" charset="0"/>
              </a:rPr>
              <a:t>AWS Lambda, Azure Functions, and Google Cloud Run functions.</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4557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6C1C29-BEAB-4772-3B59-88CE6F9CE03D}"/>
              </a:ext>
            </a:extLst>
          </p:cNvPr>
          <p:cNvSpPr txBox="1"/>
          <p:nvPr/>
        </p:nvSpPr>
        <p:spPr>
          <a:xfrm>
            <a:off x="1308537" y="455895"/>
            <a:ext cx="9574924"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FUNCTION-AS-A-SERVICE (FAAS)</a:t>
            </a:r>
          </a:p>
        </p:txBody>
      </p:sp>
      <p:pic>
        <p:nvPicPr>
          <p:cNvPr id="7" name="Picture 6">
            <a:extLst>
              <a:ext uri="{FF2B5EF4-FFF2-40B4-BE49-F238E27FC236}">
                <a16:creationId xmlns:a16="http://schemas.microsoft.com/office/drawing/2014/main" id="{FE162B75-67BE-5A84-FA6F-A6976A3CA5B6}"/>
              </a:ext>
            </a:extLst>
          </p:cNvPr>
          <p:cNvPicPr>
            <a:picLocks noChangeAspect="1"/>
          </p:cNvPicPr>
          <p:nvPr/>
        </p:nvPicPr>
        <p:blipFill>
          <a:blip r:embed="rId2"/>
          <a:stretch>
            <a:fillRect/>
          </a:stretch>
        </p:blipFill>
        <p:spPr>
          <a:xfrm>
            <a:off x="1086354" y="2022648"/>
            <a:ext cx="10019291" cy="3671571"/>
          </a:xfrm>
          <a:prstGeom prst="rect">
            <a:avLst/>
          </a:prstGeom>
        </p:spPr>
      </p:pic>
    </p:spTree>
    <p:extLst>
      <p:ext uri="{BB962C8B-B14F-4D97-AF65-F5344CB8AC3E}">
        <p14:creationId xmlns:p14="http://schemas.microsoft.com/office/powerpoint/2010/main" val="2132294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87E1CE-99C5-A539-1192-6D48A5A523D2}"/>
              </a:ext>
            </a:extLst>
          </p:cNvPr>
          <p:cNvSpPr txBox="1"/>
          <p:nvPr/>
        </p:nvSpPr>
        <p:spPr>
          <a:xfrm>
            <a:off x="2583754" y="593801"/>
            <a:ext cx="7893269"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SERVERLESS ARCHITECTURE</a:t>
            </a:r>
          </a:p>
        </p:txBody>
      </p:sp>
      <p:sp>
        <p:nvSpPr>
          <p:cNvPr id="6" name="Rounded Rectangle 4">
            <a:extLst>
              <a:ext uri="{FF2B5EF4-FFF2-40B4-BE49-F238E27FC236}">
                <a16:creationId xmlns:a16="http://schemas.microsoft.com/office/drawing/2014/main" id="{31AC82BA-1F3A-BE4A-85B6-D074812C2589}"/>
              </a:ext>
            </a:extLst>
          </p:cNvPr>
          <p:cNvSpPr/>
          <p:nvPr/>
        </p:nvSpPr>
        <p:spPr>
          <a:xfrm>
            <a:off x="382733" y="2691245"/>
            <a:ext cx="1828800" cy="914400"/>
          </a:xfrm>
          <a:prstGeom prst="roundRect">
            <a:avLst/>
          </a:prstGeom>
          <a:solidFill>
            <a:srgbClr val="FFFFFF"/>
          </a:solidFill>
          <a:ln w="25400">
            <a:solidFill>
              <a:srgbClr val="2B6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300" b="1">
                <a:solidFill>
                  <a:srgbClr val="121F38"/>
                </a:solidFill>
                <a:latin typeface="Aptos"/>
              </a:defRPr>
            </a:pPr>
            <a:r>
              <a:rPr lang="en-IN"/>
              <a:t>1. Event source</a:t>
            </a:r>
            <a:endParaRPr lang="en-IN" dirty="0"/>
          </a:p>
        </p:txBody>
      </p:sp>
      <p:sp>
        <p:nvSpPr>
          <p:cNvPr id="8" name="Rounded Rectangle 7">
            <a:extLst>
              <a:ext uri="{FF2B5EF4-FFF2-40B4-BE49-F238E27FC236}">
                <a16:creationId xmlns:a16="http://schemas.microsoft.com/office/drawing/2014/main" id="{DA82A282-8D29-FB6D-B0AA-08E455B88825}"/>
              </a:ext>
            </a:extLst>
          </p:cNvPr>
          <p:cNvSpPr/>
          <p:nvPr/>
        </p:nvSpPr>
        <p:spPr>
          <a:xfrm>
            <a:off x="2739910" y="2691245"/>
            <a:ext cx="1828800" cy="914400"/>
          </a:xfrm>
          <a:prstGeom prst="roundRect">
            <a:avLst/>
          </a:prstGeom>
          <a:solidFill>
            <a:srgbClr val="FFFFFF"/>
          </a:solidFill>
          <a:ln w="25400">
            <a:solidFill>
              <a:srgbClr val="2D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300" b="1">
                <a:solidFill>
                  <a:srgbClr val="121F38"/>
                </a:solidFill>
                <a:latin typeface="Aptos"/>
              </a:defRPr>
            </a:pPr>
            <a:r>
              <a:rPr lang="en-IN"/>
              <a:t>2. API / Trigger</a:t>
            </a:r>
            <a:endParaRPr lang="en-IN" dirty="0"/>
          </a:p>
        </p:txBody>
      </p:sp>
      <p:sp>
        <p:nvSpPr>
          <p:cNvPr id="10" name="Rounded Rectangle 10">
            <a:extLst>
              <a:ext uri="{FF2B5EF4-FFF2-40B4-BE49-F238E27FC236}">
                <a16:creationId xmlns:a16="http://schemas.microsoft.com/office/drawing/2014/main" id="{B3FCF376-3A29-4C02-0471-834850EE4758}"/>
              </a:ext>
            </a:extLst>
          </p:cNvPr>
          <p:cNvSpPr/>
          <p:nvPr/>
        </p:nvSpPr>
        <p:spPr>
          <a:xfrm>
            <a:off x="5181600" y="2691245"/>
            <a:ext cx="1828800" cy="914400"/>
          </a:xfrm>
          <a:prstGeom prst="roundRect">
            <a:avLst/>
          </a:prstGeom>
          <a:solidFill>
            <a:srgbClr val="FFFFFF"/>
          </a:solidFill>
          <a:ln w="25400">
            <a:solidFill>
              <a:srgbClr val="27A67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300" b="1">
                <a:solidFill>
                  <a:srgbClr val="121F38"/>
                </a:solidFill>
                <a:latin typeface="Aptos"/>
              </a:defRPr>
            </a:pPr>
            <a:r>
              <a:rPr lang="en-IN"/>
              <a:t>3. FaaS Runtime</a:t>
            </a:r>
            <a:endParaRPr lang="en-IN" dirty="0"/>
          </a:p>
        </p:txBody>
      </p:sp>
      <p:sp>
        <p:nvSpPr>
          <p:cNvPr id="12" name="Rounded Rectangle 13">
            <a:extLst>
              <a:ext uri="{FF2B5EF4-FFF2-40B4-BE49-F238E27FC236}">
                <a16:creationId xmlns:a16="http://schemas.microsoft.com/office/drawing/2014/main" id="{5444D14C-7295-2683-4FF0-20A1EB649E6F}"/>
              </a:ext>
            </a:extLst>
          </p:cNvPr>
          <p:cNvSpPr/>
          <p:nvPr/>
        </p:nvSpPr>
        <p:spPr>
          <a:xfrm>
            <a:off x="7467427" y="2691245"/>
            <a:ext cx="1828800" cy="914400"/>
          </a:xfrm>
          <a:prstGeom prst="roundRect">
            <a:avLst/>
          </a:prstGeom>
          <a:solidFill>
            <a:srgbClr val="FFFFFF"/>
          </a:solidFill>
          <a:ln w="25400">
            <a:solidFill>
              <a:srgbClr val="F49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300" b="1">
                <a:solidFill>
                  <a:srgbClr val="121F38"/>
                </a:solidFill>
                <a:latin typeface="Aptos"/>
              </a:defRPr>
            </a:pPr>
            <a:r>
              <a:rPr lang="en-IN"/>
              <a:t>4. Data / Service</a:t>
            </a:r>
            <a:endParaRPr lang="en-IN" dirty="0"/>
          </a:p>
        </p:txBody>
      </p:sp>
      <p:sp>
        <p:nvSpPr>
          <p:cNvPr id="14" name="Rounded Rectangle 16">
            <a:extLst>
              <a:ext uri="{FF2B5EF4-FFF2-40B4-BE49-F238E27FC236}">
                <a16:creationId xmlns:a16="http://schemas.microsoft.com/office/drawing/2014/main" id="{D2B7C8E8-AEDE-6702-B102-DCCF9F154985}"/>
              </a:ext>
            </a:extLst>
          </p:cNvPr>
          <p:cNvSpPr/>
          <p:nvPr/>
        </p:nvSpPr>
        <p:spPr>
          <a:xfrm>
            <a:off x="9821355" y="2691245"/>
            <a:ext cx="2011680" cy="914400"/>
          </a:xfrm>
          <a:prstGeom prst="roundRect">
            <a:avLst/>
          </a:prstGeom>
          <a:solidFill>
            <a:srgbClr val="FFFFFF"/>
          </a:solidFill>
          <a:ln w="25400">
            <a:solidFill>
              <a:srgbClr val="2B6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300" b="1">
                <a:solidFill>
                  <a:srgbClr val="121F38"/>
                </a:solidFill>
                <a:latin typeface="Aptos"/>
              </a:defRPr>
            </a:pPr>
            <a:r>
              <a:rPr lang="en-IN"/>
              <a:t>5. Response</a:t>
            </a:r>
            <a:endParaRPr lang="en-IN" dirty="0"/>
          </a:p>
        </p:txBody>
      </p:sp>
      <p:sp>
        <p:nvSpPr>
          <p:cNvPr id="17" name="Right Arrow 19">
            <a:extLst>
              <a:ext uri="{FF2B5EF4-FFF2-40B4-BE49-F238E27FC236}">
                <a16:creationId xmlns:a16="http://schemas.microsoft.com/office/drawing/2014/main" id="{FCD3FCCC-AF70-798F-35F2-739C81A821C4}"/>
              </a:ext>
            </a:extLst>
          </p:cNvPr>
          <p:cNvSpPr/>
          <p:nvPr/>
        </p:nvSpPr>
        <p:spPr>
          <a:xfrm>
            <a:off x="2310495" y="3020429"/>
            <a:ext cx="320040" cy="256032"/>
          </a:xfrm>
          <a:prstGeom prst="rightArrow">
            <a:avLst/>
          </a:prstGeom>
          <a:solidFill>
            <a:srgbClr val="2B6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19">
            <a:extLst>
              <a:ext uri="{FF2B5EF4-FFF2-40B4-BE49-F238E27FC236}">
                <a16:creationId xmlns:a16="http://schemas.microsoft.com/office/drawing/2014/main" id="{8D140EBE-ECC6-09DF-6355-C3A04BFE0AA3}"/>
              </a:ext>
            </a:extLst>
          </p:cNvPr>
          <p:cNvSpPr/>
          <p:nvPr/>
        </p:nvSpPr>
        <p:spPr>
          <a:xfrm>
            <a:off x="4671254" y="3020429"/>
            <a:ext cx="320040" cy="256032"/>
          </a:xfrm>
          <a:prstGeom prst="rightArrow">
            <a:avLst/>
          </a:prstGeom>
          <a:solidFill>
            <a:srgbClr val="2B6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ight Arrow 19">
            <a:extLst>
              <a:ext uri="{FF2B5EF4-FFF2-40B4-BE49-F238E27FC236}">
                <a16:creationId xmlns:a16="http://schemas.microsoft.com/office/drawing/2014/main" id="{B9FB758D-164F-9DD7-EBB3-C5C37B5A18CD}"/>
              </a:ext>
            </a:extLst>
          </p:cNvPr>
          <p:cNvSpPr/>
          <p:nvPr/>
        </p:nvSpPr>
        <p:spPr>
          <a:xfrm>
            <a:off x="7112944" y="3020429"/>
            <a:ext cx="320040" cy="256032"/>
          </a:xfrm>
          <a:prstGeom prst="rightArrow">
            <a:avLst/>
          </a:prstGeom>
          <a:solidFill>
            <a:srgbClr val="2B6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ight Arrow 19">
            <a:extLst>
              <a:ext uri="{FF2B5EF4-FFF2-40B4-BE49-F238E27FC236}">
                <a16:creationId xmlns:a16="http://schemas.microsoft.com/office/drawing/2014/main" id="{7857C2EB-8ED1-9A96-0CA3-96632F19C268}"/>
              </a:ext>
            </a:extLst>
          </p:cNvPr>
          <p:cNvSpPr/>
          <p:nvPr/>
        </p:nvSpPr>
        <p:spPr>
          <a:xfrm>
            <a:off x="9384798" y="3020429"/>
            <a:ext cx="320040" cy="256032"/>
          </a:xfrm>
          <a:prstGeom prst="rightArrow">
            <a:avLst/>
          </a:prstGeom>
          <a:solidFill>
            <a:srgbClr val="2B6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3">
            <a:extLst>
              <a:ext uri="{FF2B5EF4-FFF2-40B4-BE49-F238E27FC236}">
                <a16:creationId xmlns:a16="http://schemas.microsoft.com/office/drawing/2014/main" id="{3B421A3D-5191-A79A-D60E-A829F9A3A114}"/>
              </a:ext>
            </a:extLst>
          </p:cNvPr>
          <p:cNvSpPr/>
          <p:nvPr/>
        </p:nvSpPr>
        <p:spPr>
          <a:xfrm>
            <a:off x="916035" y="4540827"/>
            <a:ext cx="3108960" cy="123444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800"/>
              </a:spcAft>
              <a:defRPr sz="1700" b="1">
                <a:solidFill>
                  <a:srgbClr val="121F38"/>
                </a:solidFill>
                <a:latin typeface="Aptos"/>
              </a:defRPr>
            </a:pPr>
            <a:r>
              <a:rPr lang="en-IN" dirty="0"/>
              <a:t>Observability</a:t>
            </a:r>
          </a:p>
          <a:p>
            <a:pPr>
              <a:spcAft>
                <a:spcPts val="800"/>
              </a:spcAft>
              <a:defRPr sz="1700" b="1">
                <a:solidFill>
                  <a:srgbClr val="121F38"/>
                </a:solidFill>
                <a:latin typeface="Aptos"/>
              </a:defRPr>
            </a:pPr>
            <a:r>
              <a:rPr lang="en-IN" dirty="0"/>
              <a:t>Logs, metrics, tracing, alerts</a:t>
            </a:r>
          </a:p>
        </p:txBody>
      </p:sp>
      <p:sp>
        <p:nvSpPr>
          <p:cNvPr id="29" name="Rounded Rectangle 27">
            <a:extLst>
              <a:ext uri="{FF2B5EF4-FFF2-40B4-BE49-F238E27FC236}">
                <a16:creationId xmlns:a16="http://schemas.microsoft.com/office/drawing/2014/main" id="{76AB2E68-AB8A-671A-9E6F-6D32ABE293E3}"/>
              </a:ext>
            </a:extLst>
          </p:cNvPr>
          <p:cNvSpPr/>
          <p:nvPr/>
        </p:nvSpPr>
        <p:spPr>
          <a:xfrm>
            <a:off x="4568710" y="4540827"/>
            <a:ext cx="3108960" cy="123444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800"/>
              </a:spcAft>
              <a:defRPr sz="1700" b="1">
                <a:solidFill>
                  <a:srgbClr val="121F38"/>
                </a:solidFill>
                <a:latin typeface="Aptos"/>
              </a:defRPr>
            </a:pPr>
            <a:r>
              <a:rPr lang="en-IN" dirty="0"/>
              <a:t>Security</a:t>
            </a:r>
          </a:p>
          <a:p>
            <a:pPr>
              <a:spcAft>
                <a:spcPts val="800"/>
              </a:spcAft>
              <a:defRPr sz="1700" b="1">
                <a:solidFill>
                  <a:srgbClr val="121F38"/>
                </a:solidFill>
                <a:latin typeface="Aptos"/>
              </a:defRPr>
            </a:pPr>
            <a:r>
              <a:rPr lang="en-IN" dirty="0"/>
              <a:t>IAM, secrets, least privilege</a:t>
            </a:r>
          </a:p>
        </p:txBody>
      </p:sp>
      <p:sp>
        <p:nvSpPr>
          <p:cNvPr id="31" name="Rounded Rectangle 27">
            <a:extLst>
              <a:ext uri="{FF2B5EF4-FFF2-40B4-BE49-F238E27FC236}">
                <a16:creationId xmlns:a16="http://schemas.microsoft.com/office/drawing/2014/main" id="{2B83626B-6D42-E3FE-D6CD-8D2F939218F8}"/>
              </a:ext>
            </a:extLst>
          </p:cNvPr>
          <p:cNvSpPr/>
          <p:nvPr/>
        </p:nvSpPr>
        <p:spPr>
          <a:xfrm>
            <a:off x="8150358" y="4540827"/>
            <a:ext cx="3108960" cy="123444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b="1" dirty="0">
                <a:solidFill>
                  <a:schemeClr val="tx1">
                    <a:lumMod val="95000"/>
                    <a:lumOff val="5000"/>
                  </a:schemeClr>
                </a:solidFill>
                <a:latin typeface="Aptos Light" panose="020B0004020202020204" pitchFamily="34" charset="0"/>
                <a:cs typeface="Times New Roman" panose="02020603050405020304" pitchFamily="18" charset="0"/>
              </a:rPr>
              <a:t>Operations</a:t>
            </a:r>
          </a:p>
          <a:p>
            <a:r>
              <a:rPr lang="en-IN" b="1" dirty="0">
                <a:solidFill>
                  <a:schemeClr val="tx1"/>
                </a:solidFill>
              </a:rPr>
              <a:t>Retries, timeouts, dead-letter queues</a:t>
            </a:r>
          </a:p>
        </p:txBody>
      </p:sp>
    </p:spTree>
    <p:extLst>
      <p:ext uri="{BB962C8B-B14F-4D97-AF65-F5344CB8AC3E}">
        <p14:creationId xmlns:p14="http://schemas.microsoft.com/office/powerpoint/2010/main" val="147090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7A89DB-089A-FE13-F999-8E845EEC1109}"/>
              </a:ext>
            </a:extLst>
          </p:cNvPr>
          <p:cNvSpPr txBox="1"/>
          <p:nvPr/>
        </p:nvSpPr>
        <p:spPr>
          <a:xfrm>
            <a:off x="1506682" y="509155"/>
            <a:ext cx="10099963"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CORE TECHNICAL CHARACTERISTICS</a:t>
            </a:r>
          </a:p>
        </p:txBody>
      </p:sp>
      <p:sp>
        <p:nvSpPr>
          <p:cNvPr id="3" name="TextBox 2">
            <a:extLst>
              <a:ext uri="{FF2B5EF4-FFF2-40B4-BE49-F238E27FC236}">
                <a16:creationId xmlns:a16="http://schemas.microsoft.com/office/drawing/2014/main" id="{1911E037-9A1F-B89C-1E50-097171E1F786}"/>
              </a:ext>
            </a:extLst>
          </p:cNvPr>
          <p:cNvSpPr txBox="1"/>
          <p:nvPr/>
        </p:nvSpPr>
        <p:spPr>
          <a:xfrm>
            <a:off x="1217468" y="1995055"/>
            <a:ext cx="9757064" cy="3903954"/>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Event-Driven: Functions execute when triggered by events or requests.</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Automatic Scaling: Resources adjust automatically based on demand.</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Stateless Execution: Data is stored in external databases or storage.</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Managed Infrastructure: The cloud provider handles server maintenance.</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Usage-Based Billing: Charges depend on resource consumption.</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Cold Starts: Functions may experience startup delays after inactivity.</a:t>
            </a:r>
          </a:p>
          <a:p>
            <a:pPr marL="285750" indent="-285750" algn="just">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91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BA99A5-E48E-5548-CDEA-6E28059D3B0C}"/>
              </a:ext>
            </a:extLst>
          </p:cNvPr>
          <p:cNvSpPr txBox="1"/>
          <p:nvPr/>
        </p:nvSpPr>
        <p:spPr>
          <a:xfrm>
            <a:off x="788276" y="575919"/>
            <a:ext cx="10058400"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BUSINESS ADVANTAGES</a:t>
            </a:r>
          </a:p>
        </p:txBody>
      </p:sp>
      <p:sp>
        <p:nvSpPr>
          <p:cNvPr id="3" name="TextBox 2">
            <a:extLst>
              <a:ext uri="{FF2B5EF4-FFF2-40B4-BE49-F238E27FC236}">
                <a16:creationId xmlns:a16="http://schemas.microsoft.com/office/drawing/2014/main" id="{DB4647BD-9801-5D37-882E-2D039F643006}"/>
              </a:ext>
            </a:extLst>
          </p:cNvPr>
          <p:cNvSpPr txBox="1"/>
          <p:nvPr/>
        </p:nvSpPr>
        <p:spPr>
          <a:xfrm>
            <a:off x="1167245" y="1579418"/>
            <a:ext cx="9857510" cy="5011949"/>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Scalability: Automatically adjusts resources based on demand.</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Cost Efficiency: Reduces infrastructure costs with usage-based billing.</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Higher Productivity: Allows developers to focus on application features instead of server management.</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Faster Development: Speeds up application development and deployment.</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Reduced Maintenance: The cloud provider manages infrastructure and updates.</a:t>
            </a:r>
          </a:p>
          <a:p>
            <a:pPr marL="342900" lvl="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Improved Flexibility: Supports rapid changes and business growth.</a:t>
            </a:r>
          </a:p>
          <a:p>
            <a:pPr marL="342900" indent="-342900" algn="just">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694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798722-E57E-FA5E-B86D-631257A81BF6}"/>
              </a:ext>
            </a:extLst>
          </p:cNvPr>
          <p:cNvSpPr txBox="1"/>
          <p:nvPr/>
        </p:nvSpPr>
        <p:spPr>
          <a:xfrm>
            <a:off x="2857501" y="571499"/>
            <a:ext cx="6317672"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PRACTICAL USE CASES</a:t>
            </a:r>
          </a:p>
        </p:txBody>
      </p:sp>
      <p:pic>
        <p:nvPicPr>
          <p:cNvPr id="6" name="Picture 5">
            <a:extLst>
              <a:ext uri="{FF2B5EF4-FFF2-40B4-BE49-F238E27FC236}">
                <a16:creationId xmlns:a16="http://schemas.microsoft.com/office/drawing/2014/main" id="{57D3B2DA-6099-AE20-F15C-D7A5C561628D}"/>
              </a:ext>
            </a:extLst>
          </p:cNvPr>
          <p:cNvPicPr>
            <a:picLocks noChangeAspect="1"/>
          </p:cNvPicPr>
          <p:nvPr/>
        </p:nvPicPr>
        <p:blipFill>
          <a:blip r:embed="rId2"/>
          <a:stretch>
            <a:fillRect/>
          </a:stretch>
        </p:blipFill>
        <p:spPr>
          <a:xfrm>
            <a:off x="1028700" y="2036619"/>
            <a:ext cx="10359736" cy="3740726"/>
          </a:xfrm>
          <a:prstGeom prst="rect">
            <a:avLst/>
          </a:prstGeom>
        </p:spPr>
      </p:pic>
    </p:spTree>
    <p:extLst>
      <p:ext uri="{BB962C8B-B14F-4D97-AF65-F5344CB8AC3E}">
        <p14:creationId xmlns:p14="http://schemas.microsoft.com/office/powerpoint/2010/main" val="2231062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881360" cy="594360"/>
          </a:xfrm>
          <a:prstGeom prst="rect">
            <a:avLst/>
          </a:prstGeom>
          <a:noFill/>
        </p:spPr>
        <p:txBody>
          <a:bodyPr wrap="square" lIns="73152" tIns="73152" rIns="73152" bIns="73152" anchor="t">
            <a:spAutoFit/>
          </a:bodyPr>
          <a:lstStyle/>
          <a:p>
            <a:pPr algn="ctr">
              <a:spcAft>
                <a:spcPts val="800"/>
              </a:spcAft>
              <a:defRPr sz="2900" b="1">
                <a:solidFill>
                  <a:srgbClr val="121F38"/>
                </a:solidFill>
                <a:latin typeface="Aptos"/>
              </a:defRPr>
            </a:pPr>
            <a:r>
              <a:rPr lang="en-IN" dirty="0">
                <a:latin typeface="Times New Roman" panose="02020603050405020304" pitchFamily="18" charset="0"/>
                <a:cs typeface="Times New Roman" panose="02020603050405020304" pitchFamily="18" charset="0"/>
              </a:rPr>
              <a:t>EXAMPLE: IMAGE UPLOAD PIPELINE</a:t>
            </a:r>
          </a:p>
        </p:txBody>
      </p:sp>
      <p:sp>
        <p:nvSpPr>
          <p:cNvPr id="5" name="Oval 4"/>
          <p:cNvSpPr/>
          <p:nvPr/>
        </p:nvSpPr>
        <p:spPr>
          <a:xfrm>
            <a:off x="868680" y="1389888"/>
            <a:ext cx="438912" cy="438912"/>
          </a:xfrm>
          <a:prstGeom prst="ellipse">
            <a:avLst/>
          </a:prstGeom>
          <a:solidFill>
            <a:srgbClr val="2B6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481328"/>
            <a:ext cx="274320" cy="164592"/>
          </a:xfrm>
          <a:prstGeom prst="rect">
            <a:avLst/>
          </a:prstGeom>
          <a:noFill/>
        </p:spPr>
        <p:txBody>
          <a:bodyPr wrap="square" lIns="73152" tIns="73152" rIns="73152" bIns="73152" anchor="t">
            <a:spAutoFit/>
          </a:bodyPr>
          <a:lstStyle/>
          <a:p>
            <a:pPr algn="ctr">
              <a:spcAft>
                <a:spcPts val="800"/>
              </a:spcAft>
              <a:defRPr sz="1200" b="1">
                <a:solidFill>
                  <a:srgbClr val="FFFFFF"/>
                </a:solidFill>
                <a:latin typeface="Aptos"/>
              </a:defRPr>
            </a:pPr>
            <a:r>
              <a:t>1</a:t>
            </a:r>
          </a:p>
        </p:txBody>
      </p:sp>
      <p:sp>
        <p:nvSpPr>
          <p:cNvPr id="7" name="TextBox 6"/>
          <p:cNvSpPr txBox="1"/>
          <p:nvPr/>
        </p:nvSpPr>
        <p:spPr>
          <a:xfrm>
            <a:off x="1554480" y="1371600"/>
            <a:ext cx="2743200" cy="274320"/>
          </a:xfrm>
          <a:prstGeom prst="rect">
            <a:avLst/>
          </a:prstGeom>
          <a:noFill/>
        </p:spPr>
        <p:txBody>
          <a:bodyPr wrap="square" lIns="73152" tIns="73152" rIns="73152" bIns="73152" anchor="t">
            <a:spAutoFit/>
          </a:bodyPr>
          <a:lstStyle/>
          <a:p>
            <a:pPr>
              <a:spcAft>
                <a:spcPts val="800"/>
              </a:spcAft>
              <a:defRPr sz="1700" b="1">
                <a:solidFill>
                  <a:srgbClr val="121F38"/>
                </a:solidFill>
                <a:latin typeface="Aptos"/>
              </a:defRPr>
            </a:pPr>
            <a:r>
              <a:rPr dirty="0"/>
              <a:t>User uploads image</a:t>
            </a:r>
          </a:p>
        </p:txBody>
      </p:sp>
      <p:sp>
        <p:nvSpPr>
          <p:cNvPr id="8" name="TextBox 7"/>
          <p:cNvSpPr txBox="1"/>
          <p:nvPr/>
        </p:nvSpPr>
        <p:spPr>
          <a:xfrm>
            <a:off x="4160520" y="1389888"/>
            <a:ext cx="6949440" cy="320040"/>
          </a:xfrm>
          <a:prstGeom prst="rect">
            <a:avLst/>
          </a:prstGeom>
          <a:noFill/>
        </p:spPr>
        <p:txBody>
          <a:bodyPr wrap="square" lIns="73152" tIns="73152" rIns="73152" bIns="73152" anchor="t">
            <a:spAutoFit/>
          </a:bodyPr>
          <a:lstStyle/>
          <a:p>
            <a:pPr>
              <a:spcAft>
                <a:spcPts val="800"/>
              </a:spcAft>
              <a:defRPr sz="1500" b="0">
                <a:solidFill>
                  <a:srgbClr val="233043"/>
                </a:solidFill>
                <a:latin typeface="Aptos"/>
              </a:defRPr>
            </a:pPr>
            <a:r>
              <a:t>Object storage receives the file</a:t>
            </a:r>
          </a:p>
        </p:txBody>
      </p:sp>
      <p:sp>
        <p:nvSpPr>
          <p:cNvPr id="9" name="Down Arrow 8"/>
          <p:cNvSpPr/>
          <p:nvPr/>
        </p:nvSpPr>
        <p:spPr>
          <a:xfrm>
            <a:off x="987552" y="1847088"/>
            <a:ext cx="201168" cy="256032"/>
          </a:xfrm>
          <a:prstGeom prst="downArrow">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68680" y="2231136"/>
            <a:ext cx="438912" cy="438912"/>
          </a:xfrm>
          <a:prstGeom prst="ellipse">
            <a:avLst/>
          </a:prstGeom>
          <a:solidFill>
            <a:srgbClr val="2D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 y="2322576"/>
            <a:ext cx="274320" cy="164592"/>
          </a:xfrm>
          <a:prstGeom prst="rect">
            <a:avLst/>
          </a:prstGeom>
          <a:noFill/>
        </p:spPr>
        <p:txBody>
          <a:bodyPr wrap="square" lIns="73152" tIns="73152" rIns="73152" bIns="73152" anchor="t">
            <a:spAutoFit/>
          </a:bodyPr>
          <a:lstStyle/>
          <a:p>
            <a:pPr algn="ctr">
              <a:spcAft>
                <a:spcPts val="800"/>
              </a:spcAft>
              <a:defRPr sz="1200" b="1">
                <a:solidFill>
                  <a:srgbClr val="FFFFFF"/>
                </a:solidFill>
                <a:latin typeface="Aptos"/>
              </a:defRPr>
            </a:pPr>
            <a:r>
              <a:t>2</a:t>
            </a:r>
          </a:p>
        </p:txBody>
      </p:sp>
      <p:sp>
        <p:nvSpPr>
          <p:cNvPr id="12" name="TextBox 11"/>
          <p:cNvSpPr txBox="1"/>
          <p:nvPr/>
        </p:nvSpPr>
        <p:spPr>
          <a:xfrm>
            <a:off x="1554480" y="2212848"/>
            <a:ext cx="2743200" cy="274320"/>
          </a:xfrm>
          <a:prstGeom prst="rect">
            <a:avLst/>
          </a:prstGeom>
          <a:noFill/>
        </p:spPr>
        <p:txBody>
          <a:bodyPr wrap="square" lIns="73152" tIns="73152" rIns="73152" bIns="73152" anchor="t">
            <a:spAutoFit/>
          </a:bodyPr>
          <a:lstStyle/>
          <a:p>
            <a:pPr>
              <a:spcAft>
                <a:spcPts val="800"/>
              </a:spcAft>
              <a:defRPr sz="1700" b="1">
                <a:solidFill>
                  <a:srgbClr val="121F38"/>
                </a:solidFill>
                <a:latin typeface="Aptos"/>
              </a:defRPr>
            </a:pPr>
            <a:r>
              <a:t>Storage event fires</a:t>
            </a:r>
          </a:p>
        </p:txBody>
      </p:sp>
      <p:sp>
        <p:nvSpPr>
          <p:cNvPr id="13" name="TextBox 12"/>
          <p:cNvSpPr txBox="1"/>
          <p:nvPr/>
        </p:nvSpPr>
        <p:spPr>
          <a:xfrm>
            <a:off x="4160520" y="2231136"/>
            <a:ext cx="6949440" cy="320040"/>
          </a:xfrm>
          <a:prstGeom prst="rect">
            <a:avLst/>
          </a:prstGeom>
          <a:noFill/>
        </p:spPr>
        <p:txBody>
          <a:bodyPr wrap="square" lIns="73152" tIns="73152" rIns="73152" bIns="73152" anchor="t">
            <a:spAutoFit/>
          </a:bodyPr>
          <a:lstStyle/>
          <a:p>
            <a:pPr>
              <a:spcAft>
                <a:spcPts val="800"/>
              </a:spcAft>
              <a:defRPr sz="1500" b="0">
                <a:solidFill>
                  <a:srgbClr val="233043"/>
                </a:solidFill>
                <a:latin typeface="Aptos"/>
              </a:defRPr>
            </a:pPr>
            <a:r>
              <a:t>New-object event invokes the function</a:t>
            </a:r>
          </a:p>
        </p:txBody>
      </p:sp>
      <p:sp>
        <p:nvSpPr>
          <p:cNvPr id="14" name="Down Arrow 13"/>
          <p:cNvSpPr/>
          <p:nvPr/>
        </p:nvSpPr>
        <p:spPr>
          <a:xfrm>
            <a:off x="987552" y="2688336"/>
            <a:ext cx="201168" cy="256032"/>
          </a:xfrm>
          <a:prstGeom prst="downArrow">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68680" y="3072384"/>
            <a:ext cx="438912" cy="438912"/>
          </a:xfrm>
          <a:prstGeom prst="ellipse">
            <a:avLst/>
          </a:prstGeom>
          <a:solidFill>
            <a:srgbClr val="27A6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1832" y="3163824"/>
            <a:ext cx="274320" cy="164592"/>
          </a:xfrm>
          <a:prstGeom prst="rect">
            <a:avLst/>
          </a:prstGeom>
          <a:noFill/>
        </p:spPr>
        <p:txBody>
          <a:bodyPr wrap="square" lIns="73152" tIns="73152" rIns="73152" bIns="73152" anchor="t">
            <a:spAutoFit/>
          </a:bodyPr>
          <a:lstStyle/>
          <a:p>
            <a:pPr algn="ctr">
              <a:spcAft>
                <a:spcPts val="800"/>
              </a:spcAft>
              <a:defRPr sz="1200" b="1">
                <a:solidFill>
                  <a:srgbClr val="FFFFFF"/>
                </a:solidFill>
                <a:latin typeface="Aptos"/>
              </a:defRPr>
            </a:pPr>
            <a:r>
              <a:t>3</a:t>
            </a:r>
          </a:p>
        </p:txBody>
      </p:sp>
      <p:sp>
        <p:nvSpPr>
          <p:cNvPr id="17" name="TextBox 16"/>
          <p:cNvSpPr txBox="1"/>
          <p:nvPr/>
        </p:nvSpPr>
        <p:spPr>
          <a:xfrm>
            <a:off x="1554480" y="3054096"/>
            <a:ext cx="2743200" cy="274320"/>
          </a:xfrm>
          <a:prstGeom prst="rect">
            <a:avLst/>
          </a:prstGeom>
          <a:noFill/>
        </p:spPr>
        <p:txBody>
          <a:bodyPr wrap="square" lIns="73152" tIns="73152" rIns="73152" bIns="73152" anchor="t">
            <a:spAutoFit/>
          </a:bodyPr>
          <a:lstStyle/>
          <a:p>
            <a:pPr>
              <a:spcAft>
                <a:spcPts val="800"/>
              </a:spcAft>
              <a:defRPr sz="1700" b="1">
                <a:solidFill>
                  <a:srgbClr val="121F38"/>
                </a:solidFill>
                <a:latin typeface="Aptos"/>
              </a:defRPr>
            </a:pPr>
            <a:r>
              <a:t>Function processes</a:t>
            </a:r>
          </a:p>
        </p:txBody>
      </p:sp>
      <p:sp>
        <p:nvSpPr>
          <p:cNvPr id="18" name="TextBox 17"/>
          <p:cNvSpPr txBox="1"/>
          <p:nvPr/>
        </p:nvSpPr>
        <p:spPr>
          <a:xfrm>
            <a:off x="4160520" y="3072384"/>
            <a:ext cx="6949440" cy="320040"/>
          </a:xfrm>
          <a:prstGeom prst="rect">
            <a:avLst/>
          </a:prstGeom>
          <a:noFill/>
        </p:spPr>
        <p:txBody>
          <a:bodyPr wrap="square" lIns="73152" tIns="73152" rIns="73152" bIns="73152" anchor="t">
            <a:spAutoFit/>
          </a:bodyPr>
          <a:lstStyle/>
          <a:p>
            <a:pPr>
              <a:spcAft>
                <a:spcPts val="800"/>
              </a:spcAft>
              <a:defRPr sz="1500" b="0">
                <a:solidFill>
                  <a:srgbClr val="233043"/>
                </a:solidFill>
                <a:latin typeface="Aptos"/>
              </a:defRPr>
            </a:pPr>
            <a:r>
              <a:t>Validate file, resize image, create thumbnail</a:t>
            </a:r>
          </a:p>
        </p:txBody>
      </p:sp>
      <p:sp>
        <p:nvSpPr>
          <p:cNvPr id="19" name="Down Arrow 18"/>
          <p:cNvSpPr/>
          <p:nvPr/>
        </p:nvSpPr>
        <p:spPr>
          <a:xfrm>
            <a:off x="987552" y="3529584"/>
            <a:ext cx="201168" cy="256032"/>
          </a:xfrm>
          <a:prstGeom prst="downArrow">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68680" y="3913631"/>
            <a:ext cx="438912" cy="438912"/>
          </a:xfrm>
          <a:prstGeom prst="ellipse">
            <a:avLst/>
          </a:prstGeom>
          <a:solidFill>
            <a:srgbClr val="F49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1832" y="4005072"/>
            <a:ext cx="274320" cy="164592"/>
          </a:xfrm>
          <a:prstGeom prst="rect">
            <a:avLst/>
          </a:prstGeom>
          <a:noFill/>
        </p:spPr>
        <p:txBody>
          <a:bodyPr wrap="square" lIns="73152" tIns="73152" rIns="73152" bIns="73152" anchor="t">
            <a:spAutoFit/>
          </a:bodyPr>
          <a:lstStyle/>
          <a:p>
            <a:pPr algn="ctr">
              <a:spcAft>
                <a:spcPts val="800"/>
              </a:spcAft>
              <a:defRPr sz="1200" b="1">
                <a:solidFill>
                  <a:srgbClr val="FFFFFF"/>
                </a:solidFill>
                <a:latin typeface="Aptos"/>
              </a:defRPr>
            </a:pPr>
            <a:r>
              <a:t>4</a:t>
            </a:r>
          </a:p>
        </p:txBody>
      </p:sp>
      <p:sp>
        <p:nvSpPr>
          <p:cNvPr id="22" name="TextBox 21"/>
          <p:cNvSpPr txBox="1"/>
          <p:nvPr/>
        </p:nvSpPr>
        <p:spPr>
          <a:xfrm>
            <a:off x="1554480" y="3895344"/>
            <a:ext cx="2743200" cy="274320"/>
          </a:xfrm>
          <a:prstGeom prst="rect">
            <a:avLst/>
          </a:prstGeom>
          <a:noFill/>
        </p:spPr>
        <p:txBody>
          <a:bodyPr wrap="square" lIns="73152" tIns="73152" rIns="73152" bIns="73152" anchor="t">
            <a:spAutoFit/>
          </a:bodyPr>
          <a:lstStyle/>
          <a:p>
            <a:pPr>
              <a:spcAft>
                <a:spcPts val="800"/>
              </a:spcAft>
              <a:defRPr sz="1700" b="1">
                <a:solidFill>
                  <a:srgbClr val="121F38"/>
                </a:solidFill>
                <a:latin typeface="Aptos"/>
              </a:defRPr>
            </a:pPr>
            <a:r>
              <a:t>Save outputs</a:t>
            </a:r>
          </a:p>
        </p:txBody>
      </p:sp>
      <p:sp>
        <p:nvSpPr>
          <p:cNvPr id="23" name="TextBox 22"/>
          <p:cNvSpPr txBox="1"/>
          <p:nvPr/>
        </p:nvSpPr>
        <p:spPr>
          <a:xfrm>
            <a:off x="4160520" y="3913631"/>
            <a:ext cx="6949440" cy="320040"/>
          </a:xfrm>
          <a:prstGeom prst="rect">
            <a:avLst/>
          </a:prstGeom>
          <a:noFill/>
        </p:spPr>
        <p:txBody>
          <a:bodyPr wrap="square" lIns="73152" tIns="73152" rIns="73152" bIns="73152" anchor="t">
            <a:spAutoFit/>
          </a:bodyPr>
          <a:lstStyle/>
          <a:p>
            <a:pPr>
              <a:spcAft>
                <a:spcPts val="800"/>
              </a:spcAft>
              <a:defRPr sz="1500" b="0">
                <a:solidFill>
                  <a:srgbClr val="233043"/>
                </a:solidFill>
                <a:latin typeface="Aptos"/>
              </a:defRPr>
            </a:pPr>
            <a:r>
              <a:t>Write thumbnail + metadata to storage/database</a:t>
            </a:r>
          </a:p>
        </p:txBody>
      </p:sp>
      <p:sp>
        <p:nvSpPr>
          <p:cNvPr id="24" name="Down Arrow 23"/>
          <p:cNvSpPr/>
          <p:nvPr/>
        </p:nvSpPr>
        <p:spPr>
          <a:xfrm>
            <a:off x="987552" y="4370831"/>
            <a:ext cx="201168" cy="256032"/>
          </a:xfrm>
          <a:prstGeom prst="downArrow">
            <a:avLst/>
          </a:prstGeom>
          <a:solidFill>
            <a:srgbClr val="B4C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68680" y="4754879"/>
            <a:ext cx="438912" cy="438912"/>
          </a:xfrm>
          <a:prstGeom prst="ellipse">
            <a:avLst/>
          </a:prstGeom>
          <a:solidFill>
            <a:srgbClr val="2B6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1832" y="4846320"/>
            <a:ext cx="274320" cy="164592"/>
          </a:xfrm>
          <a:prstGeom prst="rect">
            <a:avLst/>
          </a:prstGeom>
          <a:noFill/>
        </p:spPr>
        <p:txBody>
          <a:bodyPr wrap="square" lIns="73152" tIns="73152" rIns="73152" bIns="73152" anchor="t">
            <a:spAutoFit/>
          </a:bodyPr>
          <a:lstStyle/>
          <a:p>
            <a:pPr algn="ctr">
              <a:spcAft>
                <a:spcPts val="800"/>
              </a:spcAft>
              <a:defRPr sz="1200" b="1">
                <a:solidFill>
                  <a:srgbClr val="FFFFFF"/>
                </a:solidFill>
                <a:latin typeface="Aptos"/>
              </a:defRPr>
            </a:pPr>
            <a:r>
              <a:t>5</a:t>
            </a:r>
          </a:p>
        </p:txBody>
      </p:sp>
      <p:sp>
        <p:nvSpPr>
          <p:cNvPr id="27" name="TextBox 26"/>
          <p:cNvSpPr txBox="1"/>
          <p:nvPr/>
        </p:nvSpPr>
        <p:spPr>
          <a:xfrm>
            <a:off x="1554480" y="4736592"/>
            <a:ext cx="2743200" cy="274320"/>
          </a:xfrm>
          <a:prstGeom prst="rect">
            <a:avLst/>
          </a:prstGeom>
          <a:noFill/>
        </p:spPr>
        <p:txBody>
          <a:bodyPr wrap="square" lIns="73152" tIns="73152" rIns="73152" bIns="73152" anchor="t">
            <a:spAutoFit/>
          </a:bodyPr>
          <a:lstStyle/>
          <a:p>
            <a:pPr>
              <a:spcAft>
                <a:spcPts val="800"/>
              </a:spcAft>
              <a:defRPr sz="1700" b="1">
                <a:solidFill>
                  <a:srgbClr val="121F38"/>
                </a:solidFill>
                <a:latin typeface="Aptos"/>
              </a:defRPr>
            </a:pPr>
            <a:r>
              <a:t>Notify application</a:t>
            </a:r>
          </a:p>
        </p:txBody>
      </p:sp>
      <p:sp>
        <p:nvSpPr>
          <p:cNvPr id="28" name="TextBox 27"/>
          <p:cNvSpPr txBox="1"/>
          <p:nvPr/>
        </p:nvSpPr>
        <p:spPr>
          <a:xfrm>
            <a:off x="4160520" y="4754879"/>
            <a:ext cx="6949440" cy="320040"/>
          </a:xfrm>
          <a:prstGeom prst="rect">
            <a:avLst/>
          </a:prstGeom>
          <a:noFill/>
        </p:spPr>
        <p:txBody>
          <a:bodyPr wrap="square" lIns="73152" tIns="73152" rIns="73152" bIns="73152" anchor="t">
            <a:spAutoFit/>
          </a:bodyPr>
          <a:lstStyle/>
          <a:p>
            <a:pPr>
              <a:spcAft>
                <a:spcPts val="800"/>
              </a:spcAft>
              <a:defRPr sz="1500" b="0">
                <a:solidFill>
                  <a:srgbClr val="233043"/>
                </a:solidFill>
                <a:latin typeface="Aptos"/>
              </a:defRPr>
            </a:pPr>
            <a:r>
              <a:t>Publish event or update status for the UI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5EDB34-A795-7CC4-FEEF-A48929EC1563}"/>
              </a:ext>
            </a:extLst>
          </p:cNvPr>
          <p:cNvSpPr txBox="1"/>
          <p:nvPr/>
        </p:nvSpPr>
        <p:spPr>
          <a:xfrm>
            <a:off x="1030431" y="2198908"/>
            <a:ext cx="9931977" cy="3903954"/>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Serverless computing is a flexible and cost-effective cloud model that reduces infrastructure management. It provides automatic scalability, improves developer productivity, and enables faster application development. With applications in APIs, IoT, automation, and data processing, serverless computing helps businesses focus on innovation while reducing operational effort and costs.</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2564AAB-5427-3770-C09F-07B2264DB5DB}"/>
              </a:ext>
            </a:extLst>
          </p:cNvPr>
          <p:cNvSpPr txBox="1"/>
          <p:nvPr/>
        </p:nvSpPr>
        <p:spPr>
          <a:xfrm>
            <a:off x="1842655" y="755138"/>
            <a:ext cx="7782791"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7270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C73231-085E-E9F6-D505-CE2FCBE21BB0}"/>
              </a:ext>
            </a:extLst>
          </p:cNvPr>
          <p:cNvSpPr txBox="1"/>
          <p:nvPr/>
        </p:nvSpPr>
        <p:spPr>
          <a:xfrm>
            <a:off x="3499945" y="4183117"/>
            <a:ext cx="8092965" cy="1631216"/>
          </a:xfrm>
          <a:prstGeom prst="rect">
            <a:avLst/>
          </a:prstGeom>
          <a:noFill/>
        </p:spPr>
        <p:txBody>
          <a:bodyPr wrap="square" rtlCol="0">
            <a:spAutoFit/>
          </a:bodyPr>
          <a:lstStyle/>
          <a:p>
            <a:r>
              <a:rPr lang="en-US" sz="10000" dirty="0">
                <a:latin typeface="Times New Roman" panose="02020603050405020304" pitchFamily="18" charset="0"/>
                <a:cs typeface="Times New Roman" panose="02020603050405020304" pitchFamily="18" charset="0"/>
              </a:rPr>
              <a:t>THANK YOU</a:t>
            </a:r>
            <a:endParaRPr lang="en-IN" sz="10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980888"/>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Archway</Template>
  <TotalTime>217</TotalTime>
  <Words>391</Words>
  <Application>Microsoft Office PowerPoint</Application>
  <PresentationFormat>Widescreen</PresentationFormat>
  <Paragraphs>58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 Light</vt:lpstr>
      <vt:lpstr>Arial</vt:lpstr>
      <vt:lpstr>Felix Titling</vt:lpstr>
      <vt:lpstr>Goudy Old Style</vt:lpstr>
      <vt:lpstr>Times New Roman</vt: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Bindu Bhargavi</dc:creator>
  <cp:lastModifiedBy>poojasprv@outlook.com</cp:lastModifiedBy>
  <cp:revision>9</cp:revision>
  <dcterms:created xsi:type="dcterms:W3CDTF">2026-07-30T15:20:15Z</dcterms:created>
  <dcterms:modified xsi:type="dcterms:W3CDTF">2026-10-09T04:09:18Z</dcterms:modified>
</cp:coreProperties>
</file>